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0066CC"/>
                </a:solidFill>
              </a:defRPr>
            </a:pPr>
            <a:r>
              <a:t>MatchForge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646464"/>
                </a:solidFill>
              </a:defRPr>
            </a:pPr>
            <a:r>
              <a:t>AI-Powered Job Matching Platform</a:t>
            </a:r>
            <a:br/>
            <a:r>
              <a:t>with Human Coaching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66CC"/>
                </a:solidFill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/>
            </a:pPr>
            <a:r>
              <a:t>• Job seekers waste time on unqualified applications</a:t>
            </a:r>
          </a:p>
          <a:p>
            <a:pPr>
              <a:spcAft>
                <a:spcPts val="1200"/>
              </a:spcAft>
              <a:defRPr sz="2400"/>
            </a:pPr>
            <a:r>
              <a:t>• ATS systems reject 75% of resumes before human review</a:t>
            </a:r>
          </a:p>
          <a:p>
            <a:pPr>
              <a:spcAft>
                <a:spcPts val="1200"/>
              </a:spcAft>
              <a:defRPr sz="2400"/>
            </a:pPr>
            <a:r>
              <a:t>• No visibility into which skills the market actually demands</a:t>
            </a:r>
          </a:p>
          <a:p>
            <a:pPr>
              <a:spcAft>
                <a:spcPts val="1200"/>
              </a:spcAft>
              <a:defRPr sz="2400"/>
            </a:pPr>
            <a:r>
              <a:t>• LinkedIn shows skill gaps per job, but doesn't aggregate market demand</a:t>
            </a:r>
          </a:p>
          <a:p>
            <a:pPr>
              <a:spcAft>
                <a:spcPts val="1200"/>
              </a:spcAft>
              <a:defRPr sz="2400"/>
            </a:pPr>
            <a:r>
              <a:t>• Career coaching is expensive ($199-$1,099 per session)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66CC"/>
                </a:solidFill>
              </a:defRPr>
            </a:pPr>
            <a:r>
              <a:t>Our Solution: MatchForge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/>
            </a:pPr>
            <a:r>
              <a:t>• AI-powered job matching with transparent 6-factor scoring</a:t>
            </a:r>
          </a:p>
          <a:p>
            <a:pPr>
              <a:spcAft>
                <a:spcPts val="1200"/>
              </a:spcAft>
              <a:defRPr sz="2400"/>
            </a:pPr>
            <a:r>
              <a:t>• ATS optimization for top 10 systems (~56% market coverage)</a:t>
            </a:r>
          </a:p>
          <a:p>
            <a:pPr>
              <a:spcAft>
                <a:spcPts val="1200"/>
              </a:spcAft>
              <a:defRPr sz="2400"/>
            </a:pPr>
            <a:r>
              <a:t>• Integrated skill gap analysis (single-job AND market-wide)</a:t>
            </a:r>
          </a:p>
          <a:p>
            <a:pPr>
              <a:spcAft>
                <a:spcPts val="1200"/>
              </a:spcAft>
              <a:defRPr sz="2400"/>
            </a:pPr>
            <a:r>
              <a:t>• AI career coach for instant guidance</a:t>
            </a:r>
          </a:p>
          <a:p>
            <a:pPr>
              <a:spcAft>
                <a:spcPts val="1200"/>
              </a:spcAft>
              <a:defRPr sz="2400"/>
            </a:pPr>
            <a:r>
              <a:t>• Human coaching at accessible prices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66CC"/>
                </a:solidFill>
              </a:defRPr>
            </a:pPr>
            <a:r>
              <a:t>Key Differentiator: Skill Gap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9664"/>
                </a:solidFill>
              </a:defRPr>
            </a:pPr>
            <a:r>
              <a:t>Single-Job Fit (Tactical)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/>
            </a:pPr>
            <a:r>
              <a:t>• "Check My Fit" button on each job</a:t>
            </a:r>
          </a:p>
          <a:p>
            <a:pPr>
              <a:spcAft>
                <a:spcPts val="800"/>
              </a:spcAft>
              <a:defRPr sz="2000"/>
            </a:pPr>
            <a:r>
              <a:t>• Shows skills you have vs missing</a:t>
            </a:r>
          </a:p>
          <a:p>
            <a:pPr>
              <a:spcAft>
                <a:spcPts val="800"/>
              </a:spcAft>
              <a:defRPr sz="2000"/>
            </a:pPr>
            <a:r>
              <a:t>• Percentage match for that role</a:t>
            </a:r>
          </a:p>
          <a:p>
            <a:pPr>
              <a:spcAft>
                <a:spcPts val="800"/>
              </a:spcAft>
              <a:defRPr sz="2000"/>
            </a:pPr>
            <a:r>
              <a:t>• Fuzzy matching (js = javascript)</a:t>
            </a:r>
          </a:p>
          <a:p>
            <a:pPr>
              <a:spcAft>
                <a:spcPts val="800"/>
              </a:spcAft>
              <a:defRPr sz="2000"/>
            </a:pPr>
            <a:r>
              <a:t>• Answer: Do I qualify for THIS job?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28016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C85050"/>
                </a:solidFill>
              </a:defRPr>
            </a:pPr>
            <a:r>
              <a:t>Market-Wide Analysis (Strategic)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82880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/>
            </a:pPr>
            <a:r>
              <a:t>• Aggregates skills across your search</a:t>
            </a:r>
          </a:p>
          <a:p>
            <a:pPr>
              <a:spcAft>
                <a:spcPts val="800"/>
              </a:spcAft>
              <a:defRPr sz="2000"/>
            </a:pPr>
            <a:r>
              <a:t>• Shows demand: Docker in 73% of jobs</a:t>
            </a:r>
          </a:p>
          <a:p>
            <a:pPr>
              <a:spcAft>
                <a:spcPts val="800"/>
              </a:spcAft>
              <a:defRPr sz="2000"/>
            </a:pPr>
            <a:r>
              <a:t>• Prioritized learning recommendations</a:t>
            </a:r>
          </a:p>
          <a:p>
            <a:pPr>
              <a:spcAft>
                <a:spcPts val="800"/>
              </a:spcAft>
              <a:defRPr sz="2000"/>
            </a:pPr>
            <a:r>
              <a:t>• Time estimates and resources</a:t>
            </a:r>
          </a:p>
          <a:p>
            <a:pPr>
              <a:spcAft>
                <a:spcPts val="800"/>
              </a:spcAft>
              <a:defRPr sz="2000"/>
            </a:pPr>
            <a:r>
              <a:t>• Answer: What should I LEARN?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66CC"/>
                </a:solidFill>
              </a:defRPr>
            </a:pPr>
            <a:r>
              <a:t>Competitive Comparison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77295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800"/>
                      </a:pPr>
                      <a:r>
                        <a:t>Platform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800"/>
                      </a:pPr>
                      <a:r>
                        <a:t>Single-Job Fit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800"/>
                      </a:pPr>
                      <a:r>
                        <a:t>Market-Wide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800"/>
                      </a:pPr>
                      <a:r>
                        <a:t>Integrated?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LinkedIn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Yes (5/8 skills)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Partial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No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Jobscan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Yes (keywords)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No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Indeed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Basic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No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Coursera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Yes (generic)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No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MatchForge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Yes (personalized)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YES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66CC"/>
                </a:solidFill>
              </a:defRPr>
            </a:pPr>
            <a:r>
              <a:t>Why This Matters: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/>
            </a:pPr>
            <a:r>
              <a:t>• Job A wants: Python, AWS, Terraform</a:t>
            </a:r>
          </a:p>
          <a:p>
            <a:pPr>
              <a:spcAft>
                <a:spcPts val="1200"/>
              </a:spcAft>
              <a:defRPr sz="2400"/>
            </a:pPr>
            <a:r>
              <a:t>•     → LinkedIn: 'Missing Terraform'</a:t>
            </a:r>
          </a:p>
          <a:p>
            <a:pPr>
              <a:spcAft>
                <a:spcPts val="1200"/>
              </a:spcAft>
              <a:defRPr sz="2400"/>
            </a:pPr>
            <a:r>
              <a:t>• Job B wants: Python, Docker, K8s</a:t>
            </a:r>
          </a:p>
          <a:p>
            <a:pPr>
              <a:spcAft>
                <a:spcPts val="1200"/>
              </a:spcAft>
              <a:defRPr sz="2400"/>
            </a:pPr>
            <a:r>
              <a:t>•     → LinkedIn: 'Missing Docker, K8s'</a:t>
            </a:r>
          </a:p>
          <a:p>
            <a:pPr>
              <a:spcAft>
                <a:spcPts val="1200"/>
              </a:spcAft>
              <a:defRPr sz="2400"/>
            </a:pPr>
            <a:r>
              <a:t>• Job C wants: Python, AWS, Docker</a:t>
            </a:r>
          </a:p>
          <a:p>
            <a:pPr>
              <a:spcAft>
                <a:spcPts val="1200"/>
              </a:spcAft>
              <a:defRPr sz="2400"/>
            </a:pPr>
            <a:r>
              <a:t>•     → LinkedIn: 'Missing Docker'</a:t>
            </a:r>
          </a:p>
          <a:p>
            <a:pPr>
              <a:spcAft>
                <a:spcPts val="1200"/>
              </a:spcAft>
              <a:defRPr sz="2400"/>
            </a:pPr>
          </a:p>
          <a:p>
            <a:pPr>
              <a:spcAft>
                <a:spcPts val="1200"/>
              </a:spcAft>
              <a:defRPr sz="2400"/>
            </a:pPr>
            <a:r>
              <a:t>• LinkedIn: 3 separate gap lists</a:t>
            </a:r>
          </a:p>
          <a:p>
            <a:pPr>
              <a:spcAft>
                <a:spcPts val="1200"/>
              </a:spcAft>
              <a:defRPr sz="2400"/>
            </a:pPr>
            <a:r>
              <a:t>• MatchForge: 'Docker in 67% - learn first, then Terraform (33%)'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66CC"/>
                </a:solidFill>
              </a:defRPr>
            </a:pPr>
            <a:r>
              <a:t>Platform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/>
            </a:pPr>
            <a:r>
              <a:t>• Multi-source job aggregation (USAJobs, The Muse, Adzuna)</a:t>
            </a:r>
          </a:p>
          <a:p>
            <a:pPr>
              <a:spcAft>
                <a:spcPts val="1200"/>
              </a:spcAft>
              <a:defRPr sz="2400"/>
            </a:pPr>
            <a:r>
              <a:t>• 6-factor transparent matching (skills, experience, salary, location, title, recency)</a:t>
            </a:r>
          </a:p>
          <a:p>
            <a:pPr>
              <a:spcAft>
                <a:spcPts val="1200"/>
              </a:spcAft>
              <a:defRPr sz="2400"/>
            </a:pPr>
            <a:r>
              <a:t>• LLM-powered resume parsing (auto-extract skills)</a:t>
            </a:r>
          </a:p>
          <a:p>
            <a:pPr>
              <a:spcAft>
                <a:spcPts val="1200"/>
              </a:spcAft>
              <a:defRPr sz="2400"/>
            </a:pPr>
            <a:r>
              <a:t>• ATS compatibility checker for 10 major systems</a:t>
            </a:r>
          </a:p>
          <a:p>
            <a:pPr>
              <a:spcAft>
                <a:spcPts val="1200"/>
              </a:spcAft>
              <a:defRPr sz="2400"/>
            </a:pPr>
            <a:r>
              <a:t>• AI career coach with topic suggestions</a:t>
            </a:r>
          </a:p>
          <a:p>
            <a:pPr>
              <a:spcAft>
                <a:spcPts val="1200"/>
              </a:spcAft>
              <a:defRPr sz="2400"/>
            </a:pPr>
            <a:r>
              <a:t>• Real-time WebSocket chat with human coaches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66CC"/>
                </a:solidFill>
              </a:defRPr>
            </a:pPr>
            <a:r>
              <a:t>Technology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9664"/>
                </a:solidFill>
              </a:defRPr>
            </a:pPr>
            <a:r>
              <a:t>Backend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/>
            </a:pPr>
            <a:r>
              <a:t>• Python / FastAPI</a:t>
            </a:r>
          </a:p>
          <a:p>
            <a:pPr>
              <a:spcAft>
                <a:spcPts val="800"/>
              </a:spcAft>
              <a:defRPr sz="2000"/>
            </a:pPr>
            <a:r>
              <a:t>• PostgreSQL + Redis</a:t>
            </a:r>
          </a:p>
          <a:p>
            <a:pPr>
              <a:spcAft>
                <a:spcPts val="800"/>
              </a:spcAft>
              <a:defRPr sz="2000"/>
            </a:pPr>
            <a:r>
              <a:t>• Sentence-transformers (ML)</a:t>
            </a:r>
          </a:p>
          <a:p>
            <a:pPr>
              <a:spcAft>
                <a:spcPts val="800"/>
              </a:spcAft>
              <a:defRPr sz="2000"/>
            </a:pPr>
            <a:r>
              <a:t>• OpenAI GPT-4o-mini / Claude</a:t>
            </a:r>
          </a:p>
          <a:p>
            <a:pPr>
              <a:spcAft>
                <a:spcPts val="800"/>
              </a:spcAft>
              <a:defRPr sz="2000"/>
            </a:pPr>
            <a:r>
              <a:t>• Docker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28016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C85050"/>
                </a:solidFill>
              </a:defRPr>
            </a:pPr>
            <a:r>
              <a:t>Frontend / Infrastructure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82880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/>
            </a:pPr>
            <a:r>
              <a:t>• Single-page demo UI</a:t>
            </a:r>
          </a:p>
          <a:p>
            <a:pPr>
              <a:spcAft>
                <a:spcPts val="800"/>
              </a:spcAft>
              <a:defRPr sz="2000"/>
            </a:pPr>
            <a:r>
              <a:t>• Real-time WebSocket chat</a:t>
            </a:r>
          </a:p>
          <a:p>
            <a:pPr>
              <a:spcAft>
                <a:spcPts val="800"/>
              </a:spcAft>
              <a:defRPr sz="2000"/>
            </a:pPr>
            <a:r>
              <a:t>• REST API + Swagger docs</a:t>
            </a:r>
          </a:p>
          <a:p>
            <a:pPr>
              <a:spcAft>
                <a:spcPts val="800"/>
              </a:spcAft>
              <a:defRPr sz="2000"/>
            </a:pPr>
            <a:r>
              <a:t>• GitHub CI/CD ready</a:t>
            </a:r>
          </a:p>
          <a:p>
            <a:pPr>
              <a:spcAft>
                <a:spcPts val="800"/>
              </a:spcAft>
              <a:defRPr sz="2000"/>
            </a:pPr>
            <a:r>
              <a:t>• github.com/jerm71279/matchforge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66CC"/>
                </a:solidFill>
              </a:defRPr>
            </a:pPr>
            <a:r>
              <a:t>Business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/>
            </a:pPr>
            <a:r>
              <a:t>• Freemium model with Pro tier ($19/month)</a:t>
            </a:r>
          </a:p>
          <a:p>
            <a:pPr>
              <a:spcAft>
                <a:spcPts val="1200"/>
              </a:spcAft>
              <a:defRPr sz="2400"/>
            </a:pPr>
          </a:p>
          <a:p>
            <a:pPr>
              <a:spcAft>
                <a:spcPts val="1200"/>
              </a:spcAft>
              <a:defRPr sz="2400"/>
            </a:pPr>
            <a:r>
              <a:t>• Free Tier:</a:t>
            </a:r>
          </a:p>
          <a:p>
            <a:pPr>
              <a:spcAft>
                <a:spcPts val="1200"/>
              </a:spcAft>
              <a:defRPr sz="2400"/>
            </a:pPr>
            <a:r>
              <a:t>•     5 job matches/day, basic ATS check, limited AI coach</a:t>
            </a:r>
          </a:p>
          <a:p>
            <a:pPr>
              <a:spcAft>
                <a:spcPts val="1200"/>
              </a:spcAft>
              <a:defRPr sz="2400"/>
            </a:pPr>
          </a:p>
          <a:p>
            <a:pPr>
              <a:spcAft>
                <a:spcPts val="1200"/>
              </a:spcAft>
              <a:defRPr sz="2400"/>
            </a:pPr>
            <a:r>
              <a:t>• Pro Tier:</a:t>
            </a:r>
          </a:p>
          <a:p>
            <a:pPr>
              <a:spcAft>
                <a:spcPts val="1200"/>
              </a:spcAft>
              <a:defRPr sz="2400"/>
            </a:pPr>
            <a:r>
              <a:t>•     Unlimited matches, full skill gap analysis, priority coaching</a:t>
            </a:r>
          </a:p>
          <a:p>
            <a:pPr>
              <a:spcAft>
                <a:spcPts val="1200"/>
              </a:spcAft>
              <a:defRPr sz="2400"/>
            </a:pPr>
          </a:p>
          <a:p>
            <a:pPr>
              <a:spcAft>
                <a:spcPts val="1200"/>
              </a:spcAft>
              <a:defRPr sz="2400"/>
            </a:pPr>
            <a:r>
              <a:t>• AI costs: ~$35/month per 1,000 users (&lt;5% of revenue)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66CC"/>
                </a:solidFill>
              </a:defRPr>
            </a:pPr>
            <a: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/>
            </a:pPr>
            <a:r>
              <a:t>• 1. Profile setup with resume auto-fill</a:t>
            </a:r>
          </a:p>
          <a:p>
            <a:pPr>
              <a:spcAft>
                <a:spcPts val="1200"/>
              </a:spcAft>
              <a:defRPr sz="2400"/>
            </a:pPr>
            <a:r>
              <a:t>• 2. Job search with real APIs (The Muse)</a:t>
            </a:r>
          </a:p>
          <a:p>
            <a:pPr>
              <a:spcAft>
                <a:spcPts val="1200"/>
              </a:spcAft>
              <a:defRPr sz="2400"/>
            </a:pPr>
            <a:r>
              <a:t>• 3. "Check My Fit" - single job skill comparison</a:t>
            </a:r>
          </a:p>
          <a:p>
            <a:pPr>
              <a:spcAft>
                <a:spcPts val="1200"/>
              </a:spcAft>
              <a:defRPr sz="2400"/>
            </a:pPr>
            <a:r>
              <a:t>• 4. "Analyze Skill Gaps" - market-wide demand</a:t>
            </a:r>
          </a:p>
          <a:p>
            <a:pPr>
              <a:spcAft>
                <a:spcPts val="1200"/>
              </a:spcAft>
              <a:defRPr sz="2400"/>
            </a:pPr>
            <a:r>
              <a:t>• 5. AI Career Coach - instant advice</a:t>
            </a:r>
          </a:p>
          <a:p>
            <a:pPr>
              <a:spcAft>
                <a:spcPts val="1200"/>
              </a:spcAft>
              <a:defRPr sz="2400"/>
            </a:pPr>
          </a:p>
          <a:p>
            <a:pPr>
              <a:spcAft>
                <a:spcPts val="1200"/>
              </a:spcAft>
              <a:defRPr sz="2400"/>
            </a:pPr>
            <a:r>
              <a:t>• Demo: http://localhost:8001/demo</a:t>
            </a:r>
          </a:p>
          <a:p>
            <a:pPr>
              <a:spcAft>
                <a:spcPts val="1200"/>
              </a:spcAft>
              <a:defRPr sz="2400"/>
            </a:pPr>
            <a:r>
              <a:t>• Login: demo@matchforge.com / DemoPass123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66CC"/>
                </a:solidFill>
              </a:defRPr>
            </a:pPr>
            <a:r>
              <a:t>Development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/>
            </a:pPr>
            <a:r>
              <a:t>• Phase 1 (Complete): Core matching, ATS checker, coaching chat</a:t>
            </a:r>
          </a:p>
          <a:p>
            <a:pPr>
              <a:spcAft>
                <a:spcPts val="1200"/>
              </a:spcAft>
              <a:defRPr sz="2400"/>
            </a:pPr>
          </a:p>
          <a:p>
            <a:pPr>
              <a:spcAft>
                <a:spcPts val="1200"/>
              </a:spcAft>
              <a:defRPr sz="2400"/>
            </a:pPr>
            <a:r>
              <a:t>• Phase 2 (Complete): Profile UI, LLM parsing, skill gaps, AI coach</a:t>
            </a:r>
          </a:p>
          <a:p>
            <a:pPr>
              <a:spcAft>
                <a:spcPts val="1200"/>
              </a:spcAft>
              <a:defRPr sz="2400"/>
            </a:pPr>
          </a:p>
          <a:p>
            <a:pPr>
              <a:spcAft>
                <a:spcPts val="1200"/>
              </a:spcAft>
              <a:defRPr sz="2400"/>
            </a:pPr>
            <a:r>
              <a:t>• Phase 3 (Planned): Match explanations, career path prediction</a:t>
            </a:r>
          </a:p>
          <a:p>
            <a:pPr>
              <a:spcAft>
                <a:spcPts val="1200"/>
              </a:spcAft>
              <a:defRPr sz="2400"/>
            </a:pPr>
          </a:p>
          <a:p>
            <a:pPr>
              <a:spcAft>
                <a:spcPts val="1200"/>
              </a:spcAft>
              <a:defRPr sz="2400"/>
            </a:pPr>
            <a:r>
              <a:t>• Phase 4 (Future): Interview simulation, bias detection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0066CC"/>
                </a:solidFill>
              </a:defRPr>
            </a:pPr>
            <a:r>
              <a:t>Questions?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646464"/>
                </a:solidFill>
              </a:defRPr>
            </a:pPr>
            <a:r>
              <a:t>Jeremy Smith</a:t>
            </a:r>
            <a:br/>
            <a:r>
              <a:t>jerm71279@gmail.com</a:t>
            </a:r>
            <a:br/>
            <a:r>
              <a:t>github.com/jerm71279/matchforge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